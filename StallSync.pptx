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5113000" cy="21374100"/>
  <p:notesSz cx="6858000" cy="9144000"/>
  <p:embeddedFontLst>
    <p:embeddedFont>
      <p:font typeface="Chewy" charset="1" panose="02000000000000000000"/>
      <p:regular r:id="rId7"/>
    </p:embeddedFont>
    <p:embeddedFont>
      <p:font typeface="Porcelain" charset="1" panose="00000000000000000000"/>
      <p:regular r:id="rId8"/>
    </p:embeddedFont>
    <p:embeddedFont>
      <p:font typeface="The Seasons Bold" charset="1" panose="000000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5120000" cy="21384000"/>
          </a:xfrm>
          <a:custGeom>
            <a:avLst/>
            <a:gdLst/>
            <a:ahLst/>
            <a:cxnLst/>
            <a:rect r="r" b="b" t="t" l="l"/>
            <a:pathLst>
              <a:path h="21384000" w="15120000">
                <a:moveTo>
                  <a:pt x="0" y="0"/>
                </a:moveTo>
                <a:lnTo>
                  <a:pt x="15120000" y="0"/>
                </a:lnTo>
                <a:lnTo>
                  <a:pt x="15120000" y="21384000"/>
                </a:lnTo>
                <a:lnTo>
                  <a:pt x="0" y="2138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071" t="0" r="-5607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9027" y="17813922"/>
            <a:ext cx="23349163" cy="3779646"/>
          </a:xfrm>
          <a:custGeom>
            <a:avLst/>
            <a:gdLst/>
            <a:ahLst/>
            <a:cxnLst/>
            <a:rect r="r" b="b" t="t" l="l"/>
            <a:pathLst>
              <a:path h="3779646" w="23349163">
                <a:moveTo>
                  <a:pt x="0" y="0"/>
                </a:moveTo>
                <a:lnTo>
                  <a:pt x="23349163" y="0"/>
                </a:lnTo>
                <a:lnTo>
                  <a:pt x="23349163" y="3779645"/>
                </a:lnTo>
                <a:lnTo>
                  <a:pt x="0" y="3779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574389" y="19101042"/>
            <a:ext cx="18861280" cy="2518584"/>
            <a:chOff x="0" y="0"/>
            <a:chExt cx="4193921" cy="5600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93922" cy="560023"/>
            </a:xfrm>
            <a:custGeom>
              <a:avLst/>
              <a:gdLst/>
              <a:ahLst/>
              <a:cxnLst/>
              <a:rect r="r" b="b" t="t" l="l"/>
              <a:pathLst>
                <a:path h="560023" w="4193922">
                  <a:moveTo>
                    <a:pt x="0" y="0"/>
                  </a:moveTo>
                  <a:lnTo>
                    <a:pt x="4193922" y="0"/>
                  </a:lnTo>
                  <a:lnTo>
                    <a:pt x="4193922" y="560023"/>
                  </a:lnTo>
                  <a:lnTo>
                    <a:pt x="0" y="560023"/>
                  </a:lnTo>
                  <a:close/>
                </a:path>
              </a:pathLst>
            </a:custGeom>
            <a:gradFill rotWithShape="true">
              <a:gsLst>
                <a:gs pos="0">
                  <a:srgbClr val="3B2222">
                    <a:alpha val="100000"/>
                  </a:srgbClr>
                </a:gs>
                <a:gs pos="33333">
                  <a:srgbClr val="654328">
                    <a:alpha val="100000"/>
                  </a:srgbClr>
                </a:gs>
                <a:gs pos="66667">
                  <a:srgbClr val="B59840">
                    <a:alpha val="100000"/>
                  </a:srgbClr>
                </a:gs>
                <a:gs pos="100000">
                  <a:srgbClr val="FFEAAA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1958442">
            <a:off x="13800902" y="13643677"/>
            <a:ext cx="516184" cy="1619400"/>
          </a:xfrm>
          <a:custGeom>
            <a:avLst/>
            <a:gdLst/>
            <a:ahLst/>
            <a:cxnLst/>
            <a:rect r="r" b="b" t="t" l="l"/>
            <a:pathLst>
              <a:path h="1619400" w="516184">
                <a:moveTo>
                  <a:pt x="0" y="0"/>
                </a:moveTo>
                <a:lnTo>
                  <a:pt x="516184" y="0"/>
                </a:lnTo>
                <a:lnTo>
                  <a:pt x="516184" y="1619400"/>
                </a:lnTo>
                <a:lnTo>
                  <a:pt x="0" y="1619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632422" y="-803551"/>
            <a:ext cx="5855157" cy="4662169"/>
          </a:xfrm>
          <a:custGeom>
            <a:avLst/>
            <a:gdLst/>
            <a:ahLst/>
            <a:cxnLst/>
            <a:rect r="r" b="b" t="t" l="l"/>
            <a:pathLst>
              <a:path h="4662169" w="5855157">
                <a:moveTo>
                  <a:pt x="0" y="0"/>
                </a:moveTo>
                <a:lnTo>
                  <a:pt x="5855156" y="0"/>
                </a:lnTo>
                <a:lnTo>
                  <a:pt x="5855156" y="4662169"/>
                </a:lnTo>
                <a:lnTo>
                  <a:pt x="0" y="46621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9639072" y="13622822"/>
            <a:ext cx="3554937" cy="7034053"/>
            <a:chOff x="0" y="0"/>
            <a:chExt cx="2620010" cy="5184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/>
              <a:stretch>
                <a:fillRect l="-8103" t="0" r="-8103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08000" y="14620364"/>
            <a:ext cx="8697908" cy="4989015"/>
            <a:chOff x="0" y="0"/>
            <a:chExt cx="7981950" cy="45783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8"/>
              <a:stretch>
                <a:fillRect l="-11507" t="0" r="-11507" b="0"/>
              </a:stretch>
            </a:blipFill>
          </p:spPr>
        </p:sp>
      </p:grpSp>
      <p:sp>
        <p:nvSpPr>
          <p:cNvPr name="AutoShape 24" id="24"/>
          <p:cNvSpPr/>
          <p:nvPr/>
        </p:nvSpPr>
        <p:spPr>
          <a:xfrm>
            <a:off x="7607625" y="2712978"/>
            <a:ext cx="0" cy="11383511"/>
          </a:xfrm>
          <a:prstGeom prst="line">
            <a:avLst/>
          </a:prstGeom>
          <a:ln cap="flat" w="95250">
            <a:solidFill>
              <a:srgbClr val="C2A7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H="true" flipV="true">
            <a:off x="338448" y="9917869"/>
            <a:ext cx="7269177" cy="0"/>
          </a:xfrm>
          <a:prstGeom prst="line">
            <a:avLst/>
          </a:prstGeom>
          <a:ln cap="flat" w="95250">
            <a:solidFill>
              <a:srgbClr val="C2A7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202115" y="19587910"/>
            <a:ext cx="3342763" cy="2005658"/>
          </a:xfrm>
          <a:custGeom>
            <a:avLst/>
            <a:gdLst/>
            <a:ahLst/>
            <a:cxnLst/>
            <a:rect r="r" b="b" t="t" l="l"/>
            <a:pathLst>
              <a:path h="2005658" w="3342763">
                <a:moveTo>
                  <a:pt x="0" y="0"/>
                </a:moveTo>
                <a:lnTo>
                  <a:pt x="3342763" y="0"/>
                </a:lnTo>
                <a:lnTo>
                  <a:pt x="3342763" y="2005657"/>
                </a:lnTo>
                <a:lnTo>
                  <a:pt x="0" y="200565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8794918">
            <a:off x="10170008" y="128933"/>
            <a:ext cx="6048000" cy="2797200"/>
          </a:xfrm>
          <a:custGeom>
            <a:avLst/>
            <a:gdLst/>
            <a:ahLst/>
            <a:cxnLst/>
            <a:rect r="r" b="b" t="t" l="l"/>
            <a:pathLst>
              <a:path h="2797200" w="6048000">
                <a:moveTo>
                  <a:pt x="0" y="0"/>
                </a:moveTo>
                <a:lnTo>
                  <a:pt x="6048000" y="0"/>
                </a:lnTo>
                <a:lnTo>
                  <a:pt x="6048000" y="2797200"/>
                </a:lnTo>
                <a:lnTo>
                  <a:pt x="0" y="2797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3745385" y="19917595"/>
            <a:ext cx="2053691" cy="1259164"/>
          </a:xfrm>
          <a:custGeom>
            <a:avLst/>
            <a:gdLst/>
            <a:ahLst/>
            <a:cxnLst/>
            <a:rect r="r" b="b" t="t" l="l"/>
            <a:pathLst>
              <a:path h="1259164" w="2053691">
                <a:moveTo>
                  <a:pt x="0" y="0"/>
                </a:moveTo>
                <a:lnTo>
                  <a:pt x="2053692" y="0"/>
                </a:lnTo>
                <a:lnTo>
                  <a:pt x="2053692" y="1259164"/>
                </a:lnTo>
                <a:lnTo>
                  <a:pt x="0" y="125916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113837" y="19826405"/>
            <a:ext cx="1446163" cy="1350354"/>
          </a:xfrm>
          <a:custGeom>
            <a:avLst/>
            <a:gdLst/>
            <a:ahLst/>
            <a:cxnLst/>
            <a:rect r="r" b="b" t="t" l="l"/>
            <a:pathLst>
              <a:path h="1350354" w="1446163">
                <a:moveTo>
                  <a:pt x="0" y="0"/>
                </a:moveTo>
                <a:lnTo>
                  <a:pt x="1446163" y="0"/>
                </a:lnTo>
                <a:lnTo>
                  <a:pt x="1446163" y="1350354"/>
                </a:lnTo>
                <a:lnTo>
                  <a:pt x="0" y="135035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019749" y="19813105"/>
            <a:ext cx="1363654" cy="1363654"/>
          </a:xfrm>
          <a:custGeom>
            <a:avLst/>
            <a:gdLst/>
            <a:ahLst/>
            <a:cxnLst/>
            <a:rect r="r" b="b" t="t" l="l"/>
            <a:pathLst>
              <a:path h="1363654" w="1363654">
                <a:moveTo>
                  <a:pt x="0" y="0"/>
                </a:moveTo>
                <a:lnTo>
                  <a:pt x="1363654" y="0"/>
                </a:lnTo>
                <a:lnTo>
                  <a:pt x="1363654" y="1363654"/>
                </a:lnTo>
                <a:lnTo>
                  <a:pt x="0" y="136365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825538" y="2741553"/>
            <a:ext cx="5839695" cy="88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61"/>
              </a:lnSpc>
            </a:pPr>
            <a:r>
              <a:rPr lang="en-US" sz="5983">
                <a:solidFill>
                  <a:srgbClr val="F8F8F8"/>
                </a:solidFill>
                <a:latin typeface="Chewy"/>
                <a:ea typeface="Chewy"/>
                <a:cs typeface="Chewy"/>
                <a:sym typeface="Chewy"/>
              </a:rPr>
              <a:t>Project Objectives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019749" y="12395561"/>
            <a:ext cx="8152493" cy="1065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8"/>
              </a:lnSpc>
              <a:spcBef>
                <a:spcPct val="0"/>
              </a:spcBef>
            </a:pPr>
            <a:r>
              <a:rPr lang="en-US" sz="7335">
                <a:solidFill>
                  <a:srgbClr val="C2A76D"/>
                </a:solidFill>
                <a:latin typeface="Porcelain"/>
                <a:ea typeface="Porcelain"/>
                <a:cs typeface="Porcelain"/>
                <a:sym typeface="Porcelain"/>
              </a:rPr>
              <a:t>Visit our site to order food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02115" y="3499598"/>
            <a:ext cx="6967684" cy="615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4030"/>
              </a:lnSpc>
              <a:buFont typeface="Arial"/>
              <a:buChar char="•"/>
            </a:pPr>
            <a:r>
              <a:rPr lang="en-US" b="true" sz="2600">
                <a:solidFill>
                  <a:srgbClr val="F8F8F8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Launch personalized, AI-powered menu system (Month 3)</a:t>
            </a:r>
          </a:p>
          <a:p>
            <a:pPr algn="l" marL="561342" indent="-280671" lvl="1">
              <a:lnSpc>
                <a:spcPts val="4030"/>
              </a:lnSpc>
              <a:buFont typeface="Arial"/>
              <a:buChar char="•"/>
            </a:pPr>
            <a:r>
              <a:rPr lang="en-US" b="true" sz="2600">
                <a:solidFill>
                  <a:srgbClr val="F8F8F8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Reduce customer anxiety and enhance patience</a:t>
            </a:r>
          </a:p>
          <a:p>
            <a:pPr algn="l" marL="561342" indent="-280671" lvl="1">
              <a:lnSpc>
                <a:spcPts val="4030"/>
              </a:lnSpc>
              <a:buFont typeface="Arial"/>
              <a:buChar char="•"/>
            </a:pPr>
            <a:r>
              <a:rPr lang="en-US" b="true" sz="2600">
                <a:solidFill>
                  <a:srgbClr val="F8F8F8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Develop StallSync (Admin): Web-based management platform</a:t>
            </a:r>
          </a:p>
          <a:p>
            <a:pPr algn="l" marL="561342" indent="-280671" lvl="1">
              <a:lnSpc>
                <a:spcPts val="4030"/>
              </a:lnSpc>
              <a:buFont typeface="Arial"/>
              <a:buChar char="•"/>
            </a:pPr>
            <a:r>
              <a:rPr lang="en-US" b="true" sz="2600">
                <a:solidFill>
                  <a:srgbClr val="F8F8F8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Develop StallSync (Client): Intelligent mobile/web food ordering</a:t>
            </a:r>
          </a:p>
          <a:p>
            <a:pPr algn="l" marL="561342" indent="-280671" lvl="1">
              <a:lnSpc>
                <a:spcPts val="4030"/>
              </a:lnSpc>
              <a:buFont typeface="Arial"/>
              <a:buChar char="•"/>
            </a:pPr>
            <a:r>
              <a:rPr lang="en-US" b="true" sz="2600">
                <a:solidFill>
                  <a:srgbClr val="F8F8F8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Enable smart record-keeping with real-time dashboards</a:t>
            </a:r>
          </a:p>
          <a:p>
            <a:pPr algn="l" marL="561342" indent="-280671" lvl="1">
              <a:lnSpc>
                <a:spcPts val="4030"/>
              </a:lnSpc>
              <a:buFont typeface="Arial"/>
              <a:buChar char="•"/>
            </a:pPr>
            <a:r>
              <a:rPr lang="en-US" b="true" sz="2600">
                <a:solidFill>
                  <a:srgbClr val="F8F8F8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Use predictive analytics for sales, demand, and staffing forecasts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756898" y="3563857"/>
            <a:ext cx="7065882" cy="871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40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strike="noStrike" u="none">
                <a:solidFill>
                  <a:srgbClr val="F8F8F8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No data-driven insights for better decision-making</a:t>
            </a:r>
          </a:p>
          <a:p>
            <a:pPr algn="l" marL="561342" indent="-280671" lvl="1">
              <a:lnSpc>
                <a:spcPts val="40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strike="noStrike" u="none">
                <a:solidFill>
                  <a:srgbClr val="F8F8F8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Manual records cause errors and delays</a:t>
            </a:r>
          </a:p>
          <a:p>
            <a:pPr algn="l" marL="561342" indent="-280671" lvl="1">
              <a:lnSpc>
                <a:spcPts val="40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strike="noStrike" u="none">
                <a:solidFill>
                  <a:srgbClr val="F8F8F8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Outdated cash-only payment systems</a:t>
            </a:r>
          </a:p>
          <a:p>
            <a:pPr algn="l" marL="561342" indent="-280671" lvl="1">
              <a:lnSpc>
                <a:spcPts val="40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strike="noStrike" u="none">
                <a:solidFill>
                  <a:srgbClr val="F8F8F8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Overwhelming menu options create choice fatigue</a:t>
            </a:r>
          </a:p>
          <a:p>
            <a:pPr algn="l" marL="561342" indent="-280671" lvl="1">
              <a:lnSpc>
                <a:spcPts val="40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strike="noStrike" u="none">
                <a:solidFill>
                  <a:srgbClr val="F8F8F8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Menu anxiety and fear of choosing the wrong dish</a:t>
            </a:r>
          </a:p>
          <a:p>
            <a:pPr algn="l" marL="561342" indent="-280671" lvl="1">
              <a:lnSpc>
                <a:spcPts val="40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strike="noStrike" u="none">
                <a:solidFill>
                  <a:srgbClr val="F8F8F8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Cluttered menus reduce readability and satisfaction</a:t>
            </a:r>
          </a:p>
          <a:p>
            <a:pPr algn="l" marL="561342" indent="-280671" lvl="1">
              <a:lnSpc>
                <a:spcPts val="40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strike="noStrike" u="none">
                <a:solidFill>
                  <a:srgbClr val="F8F8F8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No real-time order status updates</a:t>
            </a:r>
          </a:p>
          <a:p>
            <a:pPr algn="l" marL="561342" indent="-280671" lvl="1">
              <a:lnSpc>
                <a:spcPts val="40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strike="noStrike" u="none">
                <a:solidFill>
                  <a:srgbClr val="F8F8F8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Long wait times frustrate customers</a:t>
            </a:r>
          </a:p>
          <a:p>
            <a:pPr algn="l" marL="561342" indent="-280671" lvl="1">
              <a:lnSpc>
                <a:spcPts val="40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strike="noStrike" u="none">
                <a:solidFill>
                  <a:srgbClr val="F8F8F8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Poor staff scheduling and performance tracking</a:t>
            </a:r>
          </a:p>
          <a:p>
            <a:pPr algn="l" marL="561342" indent="-280671" lvl="1">
              <a:lnSpc>
                <a:spcPts val="40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strike="noStrike" u="none">
                <a:solidFill>
                  <a:srgbClr val="F8F8F8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Difficult for canteen admins to manage multiple stalls</a:t>
            </a:r>
          </a:p>
          <a:p>
            <a:pPr algn="l" marL="561342" indent="-280671" lvl="1">
              <a:lnSpc>
                <a:spcPts val="40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strike="noStrike" u="none">
                <a:solidFill>
                  <a:srgbClr val="F8F8F8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Old systems cause IT inefficiencies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883599" y="2741553"/>
            <a:ext cx="7323911" cy="88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61"/>
              </a:lnSpc>
              <a:spcBef>
                <a:spcPct val="0"/>
              </a:spcBef>
            </a:pPr>
            <a:r>
              <a:rPr lang="en-US" sz="5983" strike="noStrike" u="none">
                <a:solidFill>
                  <a:srgbClr val="F8F8F8"/>
                </a:solidFill>
                <a:latin typeface="Chewy"/>
                <a:ea typeface="Chewy"/>
                <a:cs typeface="Chewy"/>
                <a:sym typeface="Chewy"/>
              </a:rPr>
              <a:t>Problem Statement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40330" y="11352189"/>
            <a:ext cx="6610111" cy="2570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40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strike="noStrike" u="none">
                <a:solidFill>
                  <a:srgbClr val="F8F8F8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Web-based management system for stall owners, staff, and administrators  </a:t>
            </a:r>
          </a:p>
          <a:p>
            <a:pPr algn="l" marL="561342" indent="-280671" lvl="1">
              <a:lnSpc>
                <a:spcPts val="40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strike="noStrike" u="none">
                <a:solidFill>
                  <a:srgbClr val="F8F8F8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Mobile/web application for customers with personalized food recommendations and ordering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59688" y="10213144"/>
            <a:ext cx="6371395" cy="88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61"/>
              </a:lnSpc>
              <a:spcBef>
                <a:spcPct val="0"/>
              </a:spcBef>
            </a:pPr>
            <a:r>
              <a:rPr lang="en-US" sz="5983" strike="noStrike" u="none">
                <a:solidFill>
                  <a:srgbClr val="F8F8F8"/>
                </a:solidFill>
                <a:latin typeface="Chewy"/>
                <a:ea typeface="Chewy"/>
                <a:cs typeface="Chewy"/>
                <a:sym typeface="Chewy"/>
              </a:rPr>
              <a:t>Project Scope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DAGuhGJUjvM</dc:identifier>
  <dcterms:modified xsi:type="dcterms:W3CDTF">2011-08-01T06:04:30Z</dcterms:modified>
  <cp:revision>1</cp:revision>
  <dc:title>StallSync</dc:title>
</cp:coreProperties>
</file>